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3" r:id="rId1"/>
  </p:sldMasterIdLst>
  <p:sldIdLst>
    <p:sldId id="256" r:id="rId2"/>
    <p:sldId id="287" r:id="rId3"/>
    <p:sldId id="296" r:id="rId4"/>
    <p:sldId id="282" r:id="rId5"/>
    <p:sldId id="297" r:id="rId6"/>
    <p:sldId id="280" r:id="rId7"/>
    <p:sldId id="292" r:id="rId8"/>
    <p:sldId id="290" r:id="rId9"/>
    <p:sldId id="298" r:id="rId10"/>
    <p:sldId id="299" r:id="rId11"/>
    <p:sldId id="300" r:id="rId12"/>
    <p:sldId id="301" r:id="rId13"/>
    <p:sldId id="295" r:id="rId14"/>
    <p:sldId id="294" r:id="rId15"/>
    <p:sldId id="260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2C7DB-E8C6-48F2-B062-8A712302CE42}" v="49" dt="2026-08-11T04:22:51.3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75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7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6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2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4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9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5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9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4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3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5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0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  <p:sldLayoutId id="2147484063" r:id="rId10"/>
    <p:sldLayoutId id="21474840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9909E15-4AE0-1CED-BF9D-1D465F000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AA2A44-432F-BCD9-E1FB-5A5E80543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764486" cy="23876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Hire Hub – Smart Recruitment &amp; Job Portal for Campus and Companies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ECA33DDB-74FB-C065-1617-2E14A696F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" y="389267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C5184A-8D63-4EE9-822C-249387EC104D}"/>
              </a:ext>
            </a:extLst>
          </p:cNvPr>
          <p:cNvSpPr txBox="1"/>
          <p:nvPr/>
        </p:nvSpPr>
        <p:spPr>
          <a:xfrm>
            <a:off x="2299223" y="3839172"/>
            <a:ext cx="8826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CSA1007-SOFTWARE ENGINEERING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D4E2A0C-85D5-7A85-3EF4-93BE2FE61479}"/>
              </a:ext>
            </a:extLst>
          </p:cNvPr>
          <p:cNvSpPr txBox="1"/>
          <p:nvPr/>
        </p:nvSpPr>
        <p:spPr>
          <a:xfrm>
            <a:off x="7830058" y="4393824"/>
            <a:ext cx="3938454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b="1" dirty="0">
                <a:latin typeface="Times New Roman"/>
                <a:cs typeface="Times New Roman"/>
              </a:rPr>
              <a:t>GUIEDE BY:</a:t>
            </a:r>
          </a:p>
          <a:p>
            <a:pPr algn="ctr"/>
            <a:r>
              <a:rPr lang="en-GB" sz="2400" b="1" dirty="0">
                <a:latin typeface="Times New Roman"/>
                <a:cs typeface="Times New Roman"/>
              </a:rPr>
              <a:t>P.SUBRAMANIAN P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CDCB404-18D6-E7DC-03AF-475F9DAEA7CF}"/>
              </a:ext>
            </a:extLst>
          </p:cNvPr>
          <p:cNvSpPr txBox="1"/>
          <p:nvPr/>
        </p:nvSpPr>
        <p:spPr>
          <a:xfrm>
            <a:off x="2774234" y="4348311"/>
            <a:ext cx="5055824" cy="19389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b="1" dirty="0">
                <a:latin typeface="Times New Roman"/>
                <a:ea typeface="Calibri"/>
                <a:cs typeface="Calibri"/>
              </a:rPr>
              <a:t>DONE BY:</a:t>
            </a:r>
            <a:br>
              <a:rPr lang="en-GB" sz="2400" b="1" dirty="0">
                <a:latin typeface="Times New Roman"/>
                <a:ea typeface="Calibri"/>
                <a:cs typeface="Calibri"/>
              </a:rPr>
            </a:br>
            <a:r>
              <a:rPr lang="en-GB" sz="2400" dirty="0">
                <a:latin typeface="Times New Roman"/>
                <a:ea typeface="Calibri"/>
                <a:cs typeface="Calibri"/>
              </a:rPr>
              <a:t>J.K.RISHIK(192511052)</a:t>
            </a:r>
          </a:p>
          <a:p>
            <a:pPr algn="ctr"/>
            <a:r>
              <a:rPr lang="en-GB" sz="2400" dirty="0">
                <a:latin typeface="Times New Roman"/>
                <a:ea typeface="Calibri"/>
                <a:cs typeface="Calibri"/>
              </a:rPr>
              <a:t>R.JEEVAN(192524007)</a:t>
            </a:r>
          </a:p>
          <a:p>
            <a:pPr algn="ctr"/>
            <a:r>
              <a:rPr lang="en-GB" sz="2400" dirty="0">
                <a:latin typeface="Times New Roman"/>
                <a:ea typeface="Calibri"/>
                <a:cs typeface="Calibri"/>
              </a:rPr>
              <a:t>C.H.NAVEENKUMAR(192425151)</a:t>
            </a:r>
          </a:p>
          <a:p>
            <a:pPr algn="ctr"/>
            <a:r>
              <a:rPr lang="en-GB" sz="2400" dirty="0">
                <a:latin typeface="Times New Roman"/>
                <a:ea typeface="Calibri"/>
                <a:cs typeface="Calibri"/>
              </a:rPr>
              <a:t>M.MADHUSUDHAN-192425303</a:t>
            </a:r>
          </a:p>
        </p:txBody>
      </p:sp>
    </p:spTree>
    <p:extLst>
      <p:ext uri="{BB962C8B-B14F-4D97-AF65-F5344CB8AC3E}">
        <p14:creationId xmlns:p14="http://schemas.microsoft.com/office/powerpoint/2010/main" val="85361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0627-6BA3-CE00-E578-99F333E7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926" y="333500"/>
            <a:ext cx="8610827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ABSTRACT</a:t>
            </a:r>
            <a:endParaRPr lang="en-US" sz="4000" dirty="0">
              <a:latin typeface="Times New Roman"/>
              <a:cs typeface="Times New Roman"/>
            </a:endParaRPr>
          </a:p>
        </p:txBody>
      </p:sp>
      <p:pic>
        <p:nvPicPr>
          <p:cNvPr id="6" name="Picture 5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E61167EB-0BC5-07EA-46CD-7465187D8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602" y="321803"/>
            <a:ext cx="1414398" cy="1310145"/>
          </a:xfrm>
          <a:prstGeom prst="rect">
            <a:avLst/>
          </a:prstGeom>
        </p:spPr>
      </p:pic>
      <p:pic>
        <p:nvPicPr>
          <p:cNvPr id="8" name="Picture 7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76D15405-A3D2-7D97-B3BD-35AA36D97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2" y="118553"/>
            <a:ext cx="1158267" cy="1393652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E452F673-F336-CB52-0BC9-E33E33B713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3393" y="2068714"/>
            <a:ext cx="10245213" cy="411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smart recruitment platform that connects students, colleges, and companies through a single system.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student management, allowing students to create profiles, search for jobs, and apply for suitable opportunities.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company management, allowing companies to post job openings, view applicants, and manage recruitment activities.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placement activities and system administration to make the recruitment process organized, efficient, and easy to manage.</a:t>
            </a:r>
          </a:p>
        </p:txBody>
      </p:sp>
    </p:spTree>
    <p:extLst>
      <p:ext uri="{BB962C8B-B14F-4D97-AF65-F5344CB8AC3E}">
        <p14:creationId xmlns:p14="http://schemas.microsoft.com/office/powerpoint/2010/main" val="327499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9832-58FF-E9E4-A61C-E73AC3D7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1770-ED82-2BAB-0341-05A4CD93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8D6DD2-AB4C-8E45-90F8-BFCF83125DCF}"/>
              </a:ext>
            </a:extLst>
          </p:cNvPr>
          <p:cNvSpPr/>
          <p:nvPr/>
        </p:nvSpPr>
        <p:spPr>
          <a:xfrm>
            <a:off x="1197429" y="2416629"/>
            <a:ext cx="3603171" cy="1175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1.Campus recruitment is difficult to manage when student, company, job, and application details are handled through different platforms.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6BCA7D-7F63-E797-CD3D-23F817821A7B}"/>
              </a:ext>
            </a:extLst>
          </p:cNvPr>
          <p:cNvSpPr/>
          <p:nvPr/>
        </p:nvSpPr>
        <p:spPr>
          <a:xfrm>
            <a:off x="4294414" y="4724400"/>
            <a:ext cx="3603171" cy="1175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3.Here is a need for a centralized platform that connects students, colleges, and companies and simplifies the recruitment process.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9CF77-4369-D8B9-75B1-C26C8794B59B}"/>
              </a:ext>
            </a:extLst>
          </p:cNvPr>
          <p:cNvSpPr/>
          <p:nvPr/>
        </p:nvSpPr>
        <p:spPr>
          <a:xfrm>
            <a:off x="7391400" y="2394858"/>
            <a:ext cx="3603171" cy="1175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2.Students and companies need a simple system to manage job applications and recruitment activities efficiently.</a:t>
            </a:r>
          </a:p>
        </p:txBody>
      </p:sp>
      <p:pic>
        <p:nvPicPr>
          <p:cNvPr id="10" name="Picture 9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2BB5BAE0-ED79-34B5-47DB-D722F322A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2" y="30649"/>
            <a:ext cx="1158267" cy="1393652"/>
          </a:xfrm>
          <a:prstGeom prst="rect">
            <a:avLst/>
          </a:prstGeom>
        </p:spPr>
      </p:pic>
      <p:pic>
        <p:nvPicPr>
          <p:cNvPr id="12" name="Picture 11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6FC76006-7B99-DFE7-115D-06D6019F6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7602" y="72402"/>
            <a:ext cx="1414398" cy="131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3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004F5-1928-88BD-D00C-8732D721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995" y="365125"/>
            <a:ext cx="4935070" cy="13479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INTRODUCTION</a:t>
            </a:r>
            <a:endParaRPr lang="en-US" sz="4000" dirty="0">
              <a:ea typeface="Calibri Light"/>
              <a:cs typeface="Calibri Light"/>
            </a:endParaRPr>
          </a:p>
        </p:txBody>
      </p:sp>
      <p:pic>
        <p:nvPicPr>
          <p:cNvPr id="34" name="Picture 3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F850B380-DB38-C734-9160-9FDD7A1B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9225" cy="1685925"/>
          </a:xfrm>
          <a:prstGeom prst="rect">
            <a:avLst/>
          </a:prstGeom>
        </p:spPr>
      </p:pic>
      <p:pic>
        <p:nvPicPr>
          <p:cNvPr id="36" name="Picture 35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15282850-8480-C155-26E2-37DA99734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08554"/>
            <a:ext cx="1905000" cy="1685925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FBA6A26-3356-F811-1AB4-952F616C0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54" y="1974030"/>
            <a:ext cx="6865549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recruitment platform that connects students, colleges, and companies to simplify the campus recruitment process.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manages student profiles, job openings, applications, and placement activities in one centralized platform.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helps students find suitable job opportunities, allows companies to manage candidates, and enables placement officers to monitor recruitment activities efficiently.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A32EE4-D857-D41D-6B49-3E3C35FCB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914" y="2253341"/>
            <a:ext cx="4484915" cy="392157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54572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2BE6-1BAA-98F3-2426-36DCA79B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743"/>
            <a:ext cx="10515600" cy="1325563"/>
          </a:xfrm>
        </p:spPr>
        <p:txBody>
          <a:bodyPr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F2F4C9-5EFC-EFFD-AA87-41F325196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</p:spPr>
      </p:pic>
      <p:pic>
        <p:nvPicPr>
          <p:cNvPr id="7" name="Picture 6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694C0049-5F29-A828-6E49-45E8724DF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36171" cy="1112096"/>
          </a:xfrm>
          <a:prstGeom prst="rect">
            <a:avLst/>
          </a:prstGeom>
        </p:spPr>
      </p:pic>
      <p:pic>
        <p:nvPicPr>
          <p:cNvPr id="9" name="Picture 8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D3841CA9-DA48-F3A4-FA4D-C815C0800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7114" y="108555"/>
            <a:ext cx="1534886" cy="135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93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50051-9EF3-9A3A-782D-CCBF0700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807" y="657491"/>
            <a:ext cx="10515600" cy="1325563"/>
          </a:xfrm>
        </p:spPr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4000" b="1" dirty="0">
                <a:latin typeface="Times New Roman"/>
                <a:ea typeface="Calibri"/>
                <a:cs typeface="Times New Roman"/>
              </a:rPr>
              <a:t>OBJECTIVES</a:t>
            </a:r>
            <a:endParaRPr lang="en-US" sz="4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10" name="Picture 9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130AA1BC-0210-07BC-3E01-2CB777B3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14" y="186224"/>
            <a:ext cx="1285174" cy="1526683"/>
          </a:xfrm>
          <a:prstGeom prst="rect">
            <a:avLst/>
          </a:prstGeom>
        </p:spPr>
      </p:pic>
      <p:pic>
        <p:nvPicPr>
          <p:cNvPr id="13" name="Picture 12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C17BB7E6-D577-D866-F3F0-298915FC6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627" y="187704"/>
            <a:ext cx="1725066" cy="1526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3B129A-0982-9DED-C6FC-976E4273ED40}"/>
              </a:ext>
            </a:extLst>
          </p:cNvPr>
          <p:cNvSpPr txBox="1"/>
          <p:nvPr/>
        </p:nvSpPr>
        <p:spPr>
          <a:xfrm>
            <a:off x="250371" y="2042177"/>
            <a:ext cx="6096000" cy="4613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platform for students, companies, and placement officers.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allow students to search and apply for suitable job opportunities.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companies post jobs and manage student applications.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placement officers to monitor recruitment and placement activities.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a simple and efficient system for campus recruitment.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3922B-275B-112E-5395-C06E30C24C66}"/>
              </a:ext>
            </a:extLst>
          </p:cNvPr>
          <p:cNvSpPr txBox="1"/>
          <p:nvPr/>
        </p:nvSpPr>
        <p:spPr>
          <a:xfrm>
            <a:off x="2403043" y="3312664"/>
            <a:ext cx="42278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DEC52A-28DC-2150-2EAA-934FBD70A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742" y="2042177"/>
            <a:ext cx="4893129" cy="42174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90517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B2A58-D5FA-5A2C-7238-EA9995BA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4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IN" sz="4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b="1" dirty="0"/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DC31B740-C4A7-0953-47F6-C60F0C383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79714" cy="1163821"/>
          </a:xfrm>
          <a:prstGeom prst="rect">
            <a:avLst/>
          </a:prstGeom>
        </p:spPr>
      </p:pic>
      <p:pic>
        <p:nvPicPr>
          <p:cNvPr id="6" name="Picture 5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2BCB14D3-9C24-3550-5189-B42A0BC48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0143" y="0"/>
            <a:ext cx="1251857" cy="1107894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BA335FA-2BE9-3CC7-6255-DC27A5C88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0778744"/>
              </p:ext>
            </p:extLst>
          </p:nvPr>
        </p:nvGraphicFramePr>
        <p:xfrm>
          <a:off x="1050471" y="1325563"/>
          <a:ext cx="10515600" cy="5302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89710058"/>
                    </a:ext>
                  </a:extLst>
                </a:gridCol>
                <a:gridCol w="2950029">
                  <a:extLst>
                    <a:ext uri="{9D8B030D-6E8A-4147-A177-3AD203B41FA5}">
                      <a16:colId xmlns:a16="http://schemas.microsoft.com/office/drawing/2014/main" val="598075093"/>
                    </a:ext>
                  </a:extLst>
                </a:gridCol>
                <a:gridCol w="3412671">
                  <a:extLst>
                    <a:ext uri="{9D8B030D-6E8A-4147-A177-3AD203B41FA5}">
                      <a16:colId xmlns:a16="http://schemas.microsoft.com/office/drawing/2014/main" val="5661698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638253"/>
                    </a:ext>
                  </a:extLst>
                </a:gridCol>
              </a:tblGrid>
              <a:tr h="547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430785"/>
                  </a:ext>
                </a:extLst>
              </a:tr>
              <a:tr h="1006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Recruitment and Selection: A Review of Current Practices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the use of online platforms for recruitment and candidate selection.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recruitment may reduce direct interaction between recruiters and candidates.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779483"/>
                  </a:ext>
                </a:extLst>
              </a:tr>
              <a:tr h="1006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E-Recruitment: A Review of Recruitment Practices and Technologies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how digital platforms improve the recruitment process for organizations.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depends on internet access and the quality of candidate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217994"/>
                  </a:ext>
                </a:extLst>
              </a:tr>
              <a:tr h="1006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Transformation of Recruitment Processes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how digital systems can simplify job posting, candidate management, and recruitment activities.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can require technical skills and proper system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913830"/>
                  </a:ext>
                </a:extLst>
              </a:tr>
              <a:tr h="1006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Technology-Based Recruitment and Talent Acquisition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how technology helps organizations manage job applications and recruitment activities.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privacy and security must be carefully managed when handling candidate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803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68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63079-1A4A-6EFB-86AE-A8924C8C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DATASET</a:t>
            </a:r>
            <a:endParaRPr lang="en-IN" sz="4000" b="1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4573A-81C5-04C1-F7C3-F0BF6CA85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525" y="1690688"/>
            <a:ext cx="9800302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student, company, job, and application details.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 is stored and managed using a centralized MySQL database.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the stored data to manage job applications and placement activities.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06895092-1996-7113-4F41-F2EDF904B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" y="66956"/>
            <a:ext cx="1262650" cy="1498035"/>
          </a:xfrm>
          <a:prstGeom prst="rect">
            <a:avLst/>
          </a:prstGeom>
        </p:spPr>
      </p:pic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45E928C9-3EE9-45D2-3A70-F742FC4E6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244" y="66956"/>
            <a:ext cx="1696233" cy="149803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46FC1A-A0CF-85C6-F4CE-9014A92CA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457421"/>
              </p:ext>
            </p:extLst>
          </p:nvPr>
        </p:nvGraphicFramePr>
        <p:xfrm>
          <a:off x="1266173" y="3801169"/>
          <a:ext cx="9042598" cy="27969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25789">
                  <a:extLst>
                    <a:ext uri="{9D8B030D-6E8A-4147-A177-3AD203B41FA5}">
                      <a16:colId xmlns:a16="http://schemas.microsoft.com/office/drawing/2014/main" val="3878985565"/>
                    </a:ext>
                  </a:extLst>
                </a:gridCol>
                <a:gridCol w="1568409">
                  <a:extLst>
                    <a:ext uri="{9D8B030D-6E8A-4147-A177-3AD203B41FA5}">
                      <a16:colId xmlns:a16="http://schemas.microsoft.com/office/drawing/2014/main" val="1991342452"/>
                    </a:ext>
                  </a:extLst>
                </a:gridCol>
                <a:gridCol w="1153886">
                  <a:extLst>
                    <a:ext uri="{9D8B030D-6E8A-4147-A177-3AD203B41FA5}">
                      <a16:colId xmlns:a16="http://schemas.microsoft.com/office/drawing/2014/main" val="1005405602"/>
                    </a:ext>
                  </a:extLst>
                </a:gridCol>
                <a:gridCol w="1589314">
                  <a:extLst>
                    <a:ext uri="{9D8B030D-6E8A-4147-A177-3AD203B41FA5}">
                      <a16:colId xmlns:a16="http://schemas.microsoft.com/office/drawing/2014/main" val="2495739682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3760733390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2090503478"/>
                    </a:ext>
                  </a:extLst>
                </a:gridCol>
              </a:tblGrid>
              <a:tr h="285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 Applied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630508"/>
                  </a:ext>
                </a:extLst>
              </a:tr>
              <a:tr h="50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B.E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Software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Applied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77681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B.E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Shortlisted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34164"/>
                  </a:ext>
                </a:extLst>
              </a:tr>
              <a:tr h="50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Kavin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B.E 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881331"/>
                  </a:ext>
                </a:extLst>
              </a:tr>
              <a:tr h="50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B.E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269185"/>
                  </a:ext>
                </a:extLst>
              </a:tr>
              <a:tr h="50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B.E 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941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17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680C-B3E1-AED8-2452-5804DCED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2" y="12563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MODULE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2D8BEF-435F-AB78-C958-C055261F7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733694"/>
              </p:ext>
            </p:extLst>
          </p:nvPr>
        </p:nvGraphicFramePr>
        <p:xfrm>
          <a:off x="1077686" y="1716768"/>
          <a:ext cx="10374086" cy="430303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487386">
                  <a:extLst>
                    <a:ext uri="{9D8B030D-6E8A-4147-A177-3AD203B41FA5}">
                      <a16:colId xmlns:a16="http://schemas.microsoft.com/office/drawing/2014/main" val="36810432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595905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287210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18039155"/>
                    </a:ext>
                  </a:extLst>
                </a:gridCol>
              </a:tblGrid>
              <a:tr h="696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419315"/>
                  </a:ext>
                </a:extLst>
              </a:tr>
              <a:tr h="1202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and manage student profile.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profile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293943"/>
                  </a:ext>
                </a:extLst>
              </a:tr>
              <a:tr h="1202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and apply for suitable jobs.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and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Available job listings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job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6208"/>
                  </a:ext>
                </a:extLst>
              </a:tr>
              <a:tr h="1202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 application status.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application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862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0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3356-F7D5-802A-0F92-6F3EAD06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COMPANY MODULE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0ACA09-0E9D-A6CF-F560-F1BD9F046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136188"/>
              </p:ext>
            </p:extLst>
          </p:nvPr>
        </p:nvGraphicFramePr>
        <p:xfrm>
          <a:off x="838200" y="1825624"/>
          <a:ext cx="10515600" cy="419417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489146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59686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270879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4244474"/>
                    </a:ext>
                  </a:extLst>
                </a:gridCol>
              </a:tblGrid>
              <a:tr h="678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Task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Techniques Used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Output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Outcome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045903"/>
                  </a:ext>
                </a:extLst>
              </a:tr>
              <a:tr h="1171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Register and manage company profile.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Authentication and validation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Company dashboard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Easy company management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4483"/>
                  </a:ext>
                </a:extLst>
              </a:tr>
              <a:tr h="1171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Post and manage job openings.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Database management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Job listings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Simple job posting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122138"/>
                  </a:ext>
                </a:extLst>
              </a:tr>
              <a:tr h="1171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View and manage student applications.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Search and filtering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Applicant details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Easy candidate management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968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374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E21CE-1694-02D3-090A-F84D1B4C7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PLACEMENT OFFICER MODULE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62D47D-CC63-A007-A748-BB177F792A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476713"/>
              </p:ext>
            </p:extLst>
          </p:nvPr>
        </p:nvGraphicFramePr>
        <p:xfrm>
          <a:off x="838200" y="1825625"/>
          <a:ext cx="10515600" cy="4667249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759081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680487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38868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41893353"/>
                    </a:ext>
                  </a:extLst>
                </a:gridCol>
              </a:tblGrid>
              <a:tr h="7554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001255"/>
                  </a:ext>
                </a:extLst>
              </a:tr>
              <a:tr h="1303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student and company details.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recruitment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679511"/>
                  </a:ext>
                </a:extLst>
              </a:tr>
              <a:tr h="1303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job applications and placements.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placement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267145"/>
                  </a:ext>
                </a:extLst>
              </a:tr>
              <a:tr h="13039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placement reports.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recruitment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849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30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9538-6256-5DF3-A266-5C0955C6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ADMIN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D2EAE8-94CC-5295-E21E-4ADF7F837B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021368"/>
              </p:ext>
            </p:extLst>
          </p:nvPr>
        </p:nvGraphicFramePr>
        <p:xfrm>
          <a:off x="838200" y="2100943"/>
          <a:ext cx="10515600" cy="4288973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710563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53183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235872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89785384"/>
                    </a:ext>
                  </a:extLst>
                </a:gridCol>
              </a:tblGrid>
              <a:tr h="694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Task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Techniques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Output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Outcome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624767"/>
                  </a:ext>
                </a:extLst>
              </a:tr>
              <a:tr h="1198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 students, companies, and users.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system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41108"/>
                  </a:ext>
                </a:extLst>
              </a:tr>
              <a:tr h="1198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 jobs and application records.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Updated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Organized system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575676"/>
                  </a:ext>
                </a:extLst>
              </a:tr>
              <a:tr h="1198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 overall system activities.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 and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Easy system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099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22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0887-1341-492B-1D24-C5F23FD9E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8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&amp; OUTCOME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1CB71F08-67C4-1C18-E602-2DABACB2C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" y="0"/>
            <a:ext cx="1111923" cy="1320875"/>
          </a:xfrm>
          <a:prstGeom prst="rect">
            <a:avLst/>
          </a:prstGeom>
        </p:spPr>
      </p:pic>
      <p:pic>
        <p:nvPicPr>
          <p:cNvPr id="6" name="Picture 5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59A69958-7DBD-088D-34A3-1A3619D15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955" y="111542"/>
            <a:ext cx="1492514" cy="1320875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6C58D03-2D0A-C89E-7473-DD9E85D86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7963276"/>
              </p:ext>
            </p:extLst>
          </p:nvPr>
        </p:nvGraphicFramePr>
        <p:xfrm>
          <a:off x="600493" y="1549853"/>
          <a:ext cx="10515600" cy="519094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063524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85978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OUTPUT</a:t>
                      </a:r>
                    </a:p>
                    <a:p>
                      <a:pPr algn="ctr"/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OUTCOME</a:t>
                      </a:r>
                    </a:p>
                    <a:p>
                      <a:pPr algn="ctr"/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109653"/>
                  </a:ext>
                </a:extLst>
              </a:tr>
              <a:tr h="862784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Student dashboard with job listings and application status.</a:t>
                      </a:r>
                    </a:p>
                    <a:p>
                      <a:pPr algn="ctr"/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Makes the campus recruitment process simple and organized.</a:t>
                      </a:r>
                    </a:p>
                    <a:p>
                      <a:pPr algn="ctr"/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8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Company dashboard with job postings and applicant details.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Helps students find and apply for suitable job opportunities.</a:t>
                      </a:r>
                    </a:p>
                    <a:p>
                      <a:pPr algn="ctr"/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394154"/>
                  </a:ext>
                </a:extLst>
              </a:tr>
              <a:tr h="862784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Placement dashboard with placement records and reports.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Helps companies manage candidates and recruitment activities easily.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566601"/>
                  </a:ext>
                </a:extLst>
              </a:tr>
              <a:tr h="862784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/>
                        <a:t>Admin dashboard for managing users and system activities.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/>
                        <a:t>Reduces manual work and improves overall placement management.</a:t>
                      </a:r>
                    </a:p>
                    <a:p>
                      <a:pPr algn="ctr"/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713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850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936" y="256032"/>
            <a:ext cx="7879842" cy="1014984"/>
          </a:xfrm>
        </p:spPr>
        <p:txBody>
          <a:bodyPr anchor="b"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000" b="1" dirty="0"/>
          </a:p>
        </p:txBody>
      </p:sp>
      <p:pic>
        <p:nvPicPr>
          <p:cNvPr id="3" name="Picture 2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73113581-324B-95BF-A79B-C65EC27A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32" y="369811"/>
            <a:ext cx="1414398" cy="1310145"/>
          </a:xfrm>
          <a:prstGeom prst="rect">
            <a:avLst/>
          </a:prstGeom>
        </p:spPr>
      </p:pic>
      <p:pic>
        <p:nvPicPr>
          <p:cNvPr id="6" name="Picture 5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DEC03C70-FF9F-6547-01E6-7214F8C41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89" y="369812"/>
            <a:ext cx="1158267" cy="139365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9276B7-32A3-18E7-3E47-33A9C9851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Hire Hub provides a centralized platform that connects students, companies, and placement officers to manage campus recruitment activities in one system.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students easily search for suitable job opportunities, apply for jobs, and track their application status without depending on multiple platforms.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Companies can post job openings, view student applications, and manage suitable candidates through a simple and organized recruitment process.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Placement officers can monitor student applications, company activities, and placement records, making the overall placement management easier.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Hire Hub reduces manual work and makes the campus recruitment process faster, simpler, organized, and more efficient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0" name="Title 49">
            <a:extLst>
              <a:ext uri="{FF2B5EF4-FFF2-40B4-BE49-F238E27FC236}">
                <a16:creationId xmlns:a16="http://schemas.microsoft.com/office/drawing/2014/main" id="{EBCFBE73-DF9F-98CC-C8A6-C406CC6B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31" y="2617583"/>
            <a:ext cx="3981854" cy="221651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/>
                <a:cs typeface="Times New Roman"/>
              </a:rPr>
              <a:t>REFERENCES</a:t>
            </a:r>
            <a:endParaRPr lang="en-US" sz="4000" b="1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Content Placeholder 3" descr="A blue and white logo with a book and a black background&#10;&#10;AI-generated content may be incorrect.">
            <a:extLst>
              <a:ext uri="{FF2B5EF4-FFF2-40B4-BE49-F238E27FC236}">
                <a16:creationId xmlns:a16="http://schemas.microsoft.com/office/drawing/2014/main" id="{DEFECD92-A70D-172B-8232-339D4441F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4" y="249889"/>
            <a:ext cx="10872172" cy="1658005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5F6703-83F2-2662-CBB4-D27BCF39E9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9787" y="2123886"/>
            <a:ext cx="6952277" cy="4175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1600" b="1" dirty="0"/>
              <a:t>Kaur, P., &amp; Sharma, R.</a:t>
            </a:r>
            <a:r>
              <a:rPr lang="en-IN" sz="1600" dirty="0"/>
              <a:t> (2021). E-Recruitment: A Study of Online Recruitment Practices and Candidate Selection. </a:t>
            </a:r>
            <a:r>
              <a:rPr lang="en-IN" sz="1600" i="1" dirty="0"/>
              <a:t>International Journal of Human Resource Management</a:t>
            </a:r>
            <a:r>
              <a:rPr lang="en-IN" sz="1600" dirty="0"/>
              <a:t>, 12(3), 145–156. </a:t>
            </a:r>
          </a:p>
          <a:p>
            <a:pPr lvl="0"/>
            <a:r>
              <a:rPr lang="en-IN" sz="1600" b="1" dirty="0"/>
              <a:t>Kumar, A., &amp; Singh, S.</a:t>
            </a:r>
            <a:r>
              <a:rPr lang="en-IN" sz="1600" dirty="0"/>
              <a:t> (2022). Digital Transformation of Recruitment and Talent Acquisition Processes. </a:t>
            </a:r>
            <a:r>
              <a:rPr lang="en-IN" sz="1600" i="1" dirty="0"/>
              <a:t>International Journal of Management Studies</a:t>
            </a:r>
            <a:r>
              <a:rPr lang="en-IN" sz="1600" dirty="0"/>
              <a:t>, 9(2), 78–89. </a:t>
            </a:r>
          </a:p>
          <a:p>
            <a:pPr lvl="0"/>
            <a:r>
              <a:rPr lang="en-IN" sz="1600" b="1" dirty="0"/>
              <a:t>Patel, M., &amp; Shah, K.</a:t>
            </a:r>
            <a:r>
              <a:rPr lang="en-IN" sz="1600" dirty="0"/>
              <a:t> (2022). Online Job Portals and Their Impact on Recruitment Efficiency. </a:t>
            </a:r>
            <a:r>
              <a:rPr lang="en-IN" sz="1600" i="1" dirty="0"/>
              <a:t>International Journal of Computer Applications</a:t>
            </a:r>
            <a:r>
              <a:rPr lang="en-IN" sz="1600" dirty="0"/>
              <a:t>, 184(15), 25–31. </a:t>
            </a:r>
          </a:p>
          <a:p>
            <a:pPr lvl="0"/>
            <a:r>
              <a:rPr lang="en-IN" sz="1600" b="1" dirty="0"/>
              <a:t>Rahman, M., &amp; Das, P.</a:t>
            </a:r>
            <a:r>
              <a:rPr lang="en-IN" sz="1600" dirty="0"/>
              <a:t> (2023). Technology-Based Recruitment Systems for Improving Candidate and Employer Interaction. </a:t>
            </a:r>
            <a:r>
              <a:rPr lang="en-IN" sz="1600" i="1" dirty="0"/>
              <a:t>International Journal of Information Technology and Management</a:t>
            </a:r>
            <a:r>
              <a:rPr lang="en-IN" sz="1600" dirty="0"/>
              <a:t>, 8(4), 112–120. </a:t>
            </a:r>
          </a:p>
          <a:p>
            <a:pPr lvl="0"/>
            <a:r>
              <a:rPr lang="en-IN" sz="1600" b="1" dirty="0"/>
              <a:t>Kumar, R., &amp; Priya, S.</a:t>
            </a:r>
            <a:r>
              <a:rPr lang="en-IN" sz="1600" dirty="0"/>
              <a:t> (2024). Digital Platforms for Campus Recruitment and Placement Management. </a:t>
            </a:r>
            <a:r>
              <a:rPr lang="en-IN" sz="1600" i="1" dirty="0"/>
              <a:t>International Journal of Advanced Research in Computer Science</a:t>
            </a:r>
            <a:r>
              <a:rPr lang="en-IN" sz="1600" dirty="0"/>
              <a:t>, 15(2), 64–72.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607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Handshake">
            <a:extLst>
              <a:ext uri="{FF2B5EF4-FFF2-40B4-BE49-F238E27FC236}">
                <a16:creationId xmlns:a16="http://schemas.microsoft.com/office/drawing/2014/main" id="{6A1AE916-B85F-8E2C-8A9E-8A4C9C016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0467" y="643467"/>
            <a:ext cx="5571065" cy="5571065"/>
          </a:xfrm>
          <a:prstGeom prst="rect">
            <a:avLst/>
          </a:prstGeom>
          <a:ln>
            <a:noFill/>
          </a:ln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4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1147</Words>
  <Application>Microsoft Office PowerPoint</Application>
  <PresentationFormat>Widescreen</PresentationFormat>
  <Paragraphs>181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Hire Hub – Smart Recruitment &amp; Job Portal for Campus and Companies</vt:lpstr>
      <vt:lpstr>ABSTRACT</vt:lpstr>
      <vt:lpstr>PROBLEM STATEMENT </vt:lpstr>
      <vt:lpstr>INTRODUCTION</vt:lpstr>
      <vt:lpstr>PowerPoint Presentation</vt:lpstr>
      <vt:lpstr>OBJECTIVES</vt:lpstr>
      <vt:lpstr>LITERATURE REVIEW </vt:lpstr>
      <vt:lpstr>DATASET</vt:lpstr>
      <vt:lpstr>MODULE 1: STUDENT MODULE</vt:lpstr>
      <vt:lpstr>MODULE 2: COMPANY MODULE</vt:lpstr>
      <vt:lpstr>MODULE 3: PLACEMENT OFFICER MODULE</vt:lpstr>
      <vt:lpstr>MODULE 4: ADMIN MODULE</vt:lpstr>
      <vt:lpstr>OUTPUT &amp; OUTCOME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Kirthanaa Balaji</dc:creator>
  <cp:lastModifiedBy>surithika Jk</cp:lastModifiedBy>
  <cp:revision>6</cp:revision>
  <dcterms:created xsi:type="dcterms:W3CDTF">2025-06-23T12:00:13Z</dcterms:created>
  <dcterms:modified xsi:type="dcterms:W3CDTF">2026-08-11T04:30:57Z</dcterms:modified>
</cp:coreProperties>
</file>